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D5B46-55A0-4454-B91A-47AC40A46944}" v="14" dt="2026-03-11T16:17:48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dduturujashwanth@gmail.com" userId="837b609ea71a6ddb" providerId="LiveId" clId="{59477A0C-781A-4CB6-94D4-2E86BFBE70D1}"/>
    <pc:docChg chg="undo custSel addSld modSld">
      <pc:chgData name="prodduturujashwanth@gmail.com" userId="837b609ea71a6ddb" providerId="LiveId" clId="{59477A0C-781A-4CB6-94D4-2E86BFBE70D1}" dt="2026-03-11T16:23:23.742" v="112" actId="12"/>
      <pc:docMkLst>
        <pc:docMk/>
      </pc:docMkLst>
      <pc:sldChg chg="addSp modSp mod">
        <pc:chgData name="prodduturujashwanth@gmail.com" userId="837b609ea71a6ddb" providerId="LiveId" clId="{59477A0C-781A-4CB6-94D4-2E86BFBE70D1}" dt="2026-03-11T16:18:56.359" v="110" actId="1076"/>
        <pc:sldMkLst>
          <pc:docMk/>
          <pc:sldMk cId="908328855" sldId="256"/>
        </pc:sldMkLst>
        <pc:spChg chg="add mod">
          <ac:chgData name="prodduturujashwanth@gmail.com" userId="837b609ea71a6ddb" providerId="LiveId" clId="{59477A0C-781A-4CB6-94D4-2E86BFBE70D1}" dt="2026-03-11T16:18:56.359" v="110" actId="1076"/>
          <ac:spMkLst>
            <pc:docMk/>
            <pc:sldMk cId="908328855" sldId="256"/>
            <ac:spMk id="4" creationId="{34BE6C9F-0513-FF42-96FA-0252BF945410}"/>
          </ac:spMkLst>
        </pc:spChg>
      </pc:sldChg>
      <pc:sldChg chg="modSp mod">
        <pc:chgData name="prodduturujashwanth@gmail.com" userId="837b609ea71a6ddb" providerId="LiveId" clId="{59477A0C-781A-4CB6-94D4-2E86BFBE70D1}" dt="2026-03-11T16:23:23.742" v="112" actId="12"/>
        <pc:sldMkLst>
          <pc:docMk/>
          <pc:sldMk cId="90557699" sldId="258"/>
        </pc:sldMkLst>
        <pc:spChg chg="mod">
          <ac:chgData name="prodduturujashwanth@gmail.com" userId="837b609ea71a6ddb" providerId="LiveId" clId="{59477A0C-781A-4CB6-94D4-2E86BFBE70D1}" dt="2026-03-11T16:23:23.742" v="112" actId="12"/>
          <ac:spMkLst>
            <pc:docMk/>
            <pc:sldMk cId="90557699" sldId="258"/>
            <ac:spMk id="3" creationId="{681C0AA8-BB6C-6508-87EC-B228600C8856}"/>
          </ac:spMkLst>
        </pc:spChg>
      </pc:sldChg>
      <pc:sldChg chg="addSp delSp modSp mod">
        <pc:chgData name="prodduturujashwanth@gmail.com" userId="837b609ea71a6ddb" providerId="LiveId" clId="{59477A0C-781A-4CB6-94D4-2E86BFBE70D1}" dt="2026-03-11T15:50:58.734" v="28" actId="20577"/>
        <pc:sldMkLst>
          <pc:docMk/>
          <pc:sldMk cId="2553446460" sldId="259"/>
        </pc:sldMkLst>
        <pc:spChg chg="del">
          <ac:chgData name="prodduturujashwanth@gmail.com" userId="837b609ea71a6ddb" providerId="LiveId" clId="{59477A0C-781A-4CB6-94D4-2E86BFBE70D1}" dt="2026-03-11T15:48:09.271" v="2" actId="478"/>
          <ac:spMkLst>
            <pc:docMk/>
            <pc:sldMk cId="2553446460" sldId="259"/>
            <ac:spMk id="3" creationId="{9B5AE751-A87C-5D59-6588-FE2A8C8B42D5}"/>
          </ac:spMkLst>
        </pc:spChg>
        <pc:spChg chg="del">
          <ac:chgData name="prodduturujashwanth@gmail.com" userId="837b609ea71a6ddb" providerId="LiveId" clId="{59477A0C-781A-4CB6-94D4-2E86BFBE70D1}" dt="2026-03-11T15:48:12.901" v="3" actId="478"/>
          <ac:spMkLst>
            <pc:docMk/>
            <pc:sldMk cId="2553446460" sldId="259"/>
            <ac:spMk id="4" creationId="{E57C687A-1C30-BFF0-4124-619151E49907}"/>
          </ac:spMkLst>
        </pc:spChg>
        <pc:spChg chg="add mod">
          <ac:chgData name="prodduturujashwanth@gmail.com" userId="837b609ea71a6ddb" providerId="LiveId" clId="{59477A0C-781A-4CB6-94D4-2E86BFBE70D1}" dt="2026-03-11T15:50:58.734" v="28" actId="20577"/>
          <ac:spMkLst>
            <pc:docMk/>
            <pc:sldMk cId="2553446460" sldId="259"/>
            <ac:spMk id="5" creationId="{5A54EA41-7EB7-4BFE-9143-CA86DDD021BE}"/>
          </ac:spMkLst>
        </pc:spChg>
      </pc:sldChg>
      <pc:sldChg chg="modSp mod">
        <pc:chgData name="prodduturujashwanth@gmail.com" userId="837b609ea71a6ddb" providerId="LiveId" clId="{59477A0C-781A-4CB6-94D4-2E86BFBE70D1}" dt="2026-03-11T16:05:40.414" v="61" actId="20577"/>
        <pc:sldMkLst>
          <pc:docMk/>
          <pc:sldMk cId="89976283" sldId="261"/>
        </pc:sldMkLst>
        <pc:spChg chg="mod">
          <ac:chgData name="prodduturujashwanth@gmail.com" userId="837b609ea71a6ddb" providerId="LiveId" clId="{59477A0C-781A-4CB6-94D4-2E86BFBE70D1}" dt="2026-03-11T16:05:40.414" v="61" actId="20577"/>
          <ac:spMkLst>
            <pc:docMk/>
            <pc:sldMk cId="89976283" sldId="261"/>
            <ac:spMk id="13" creationId="{A1834FDE-5A1F-87CE-40D9-AF7FD30CA6C4}"/>
          </ac:spMkLst>
        </pc:spChg>
      </pc:sldChg>
      <pc:sldChg chg="modSp mod">
        <pc:chgData name="prodduturujashwanth@gmail.com" userId="837b609ea71a6ddb" providerId="LiveId" clId="{59477A0C-781A-4CB6-94D4-2E86BFBE70D1}" dt="2026-03-11T15:54:01.061" v="34" actId="20577"/>
        <pc:sldMkLst>
          <pc:docMk/>
          <pc:sldMk cId="2035170323" sldId="262"/>
        </pc:sldMkLst>
        <pc:spChg chg="mod">
          <ac:chgData name="prodduturujashwanth@gmail.com" userId="837b609ea71a6ddb" providerId="LiveId" clId="{59477A0C-781A-4CB6-94D4-2E86BFBE70D1}" dt="2026-03-11T15:54:01.061" v="34" actId="20577"/>
          <ac:spMkLst>
            <pc:docMk/>
            <pc:sldMk cId="2035170323" sldId="262"/>
            <ac:spMk id="3" creationId="{EF72E931-896C-12D0-9ECE-58AB010CFA5A}"/>
          </ac:spMkLst>
        </pc:spChg>
      </pc:sldChg>
      <pc:sldChg chg="addSp delSp modSp new mod">
        <pc:chgData name="prodduturujashwanth@gmail.com" userId="837b609ea71a6ddb" providerId="LiveId" clId="{59477A0C-781A-4CB6-94D4-2E86BFBE70D1}" dt="2026-03-11T16:04:43.953" v="60" actId="12"/>
        <pc:sldMkLst>
          <pc:docMk/>
          <pc:sldMk cId="4156389825" sldId="264"/>
        </pc:sldMkLst>
        <pc:spChg chg="mod">
          <ac:chgData name="prodduturujashwanth@gmail.com" userId="837b609ea71a6ddb" providerId="LiveId" clId="{59477A0C-781A-4CB6-94D4-2E86BFBE70D1}" dt="2026-03-11T15:58:03.449" v="39" actId="14100"/>
          <ac:spMkLst>
            <pc:docMk/>
            <pc:sldMk cId="4156389825" sldId="264"/>
            <ac:spMk id="2" creationId="{7C49160A-8609-472E-81B2-DBDC0AC39DC5}"/>
          </ac:spMkLst>
        </pc:spChg>
        <pc:spChg chg="add del mod">
          <ac:chgData name="prodduturujashwanth@gmail.com" userId="837b609ea71a6ddb" providerId="LiveId" clId="{59477A0C-781A-4CB6-94D4-2E86BFBE70D1}" dt="2026-03-11T15:58:16.307" v="41" actId="478"/>
          <ac:spMkLst>
            <pc:docMk/>
            <pc:sldMk cId="4156389825" sldId="264"/>
            <ac:spMk id="3" creationId="{013BA796-62F5-ECCB-557E-B0602FAE97C9}"/>
          </ac:spMkLst>
        </pc:spChg>
        <pc:spChg chg="add mod">
          <ac:chgData name="prodduturujashwanth@gmail.com" userId="837b609ea71a6ddb" providerId="LiveId" clId="{59477A0C-781A-4CB6-94D4-2E86BFBE70D1}" dt="2026-03-11T16:04:43.953" v="60" actId="12"/>
          <ac:spMkLst>
            <pc:docMk/>
            <pc:sldMk cId="4156389825" sldId="264"/>
            <ac:spMk id="5" creationId="{0CCFAA14-2BD7-2392-A0BE-963F5F51F0CC}"/>
          </ac:spMkLst>
        </pc:spChg>
        <pc:graphicFrameChg chg="add mod modGraphic">
          <ac:chgData name="prodduturujashwanth@gmail.com" userId="837b609ea71a6ddb" providerId="LiveId" clId="{59477A0C-781A-4CB6-94D4-2E86BFBE70D1}" dt="2026-03-11T16:03:32.434" v="51" actId="1076"/>
          <ac:graphicFrameMkLst>
            <pc:docMk/>
            <pc:sldMk cId="4156389825" sldId="264"/>
            <ac:graphicFrameMk id="4" creationId="{87115F6F-BC1F-B04E-DEEC-1E02B434C55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9B24-375E-F76A-26BD-AB54C9405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D4B65-8493-B252-89C9-31F63EC67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8CFBF-0102-A864-3DAF-A6774960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3613A-22BA-A93F-1A2E-BE1C2EF3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8531F-C3A1-16FE-0DB1-9B58189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0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E6969-C6C3-68FA-E809-1C12060F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23023-6FA6-03D8-ABD0-F0F359202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D0229-6467-4EFF-1FB6-4DA7770F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5C7DC-17DA-C018-BF8A-5825B718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1778B-08CE-6475-ADA0-EC0AE74E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8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11D6-62D3-22FD-5F89-D887F5A3B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02189-531D-71DF-376F-FE3FA7EFA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711BF-D9D4-835A-F18F-55C16A34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575B4-9363-5E28-EE41-0DD4A806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DA0EF-98B4-140E-C3AD-43E05D03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16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573C-E142-48FA-4916-656F28F9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97264-498A-6A7D-D9F5-E77EBF623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86512-45AF-5BBC-C956-8D8CFDDEF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5F31A-89BF-A5A9-6F29-A77BD4FA9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5C0F6-D5A7-715A-555E-BEF1B88B1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51319-720E-591A-03CF-A723A0FA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53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9D37-57AE-001C-4660-4FFBD9A9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80540-9C8D-F7F3-3315-5FC02D3D0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CC43D-39F5-E44B-DAC4-71F5D92F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9BB1-E5DF-B1FE-5014-A72F18111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E774B-5508-847A-C1E9-C49C3F036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0B36C-79DD-200D-4B9B-FBDAF5B2A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D07C7-6748-19E5-9C99-D11516B5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1FEDA-3D78-6687-D257-7741303D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3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CA127-494D-E1E4-50F3-187A6F7B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C17D6-BCFF-C9D6-A370-7FB06566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175EA-1860-9F24-DCA8-FB4B2991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B9DD2-9041-D791-EE46-D10FB5F6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2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8821D7-09F1-CBDD-2CBF-A723E76C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5D93C-2612-3FE6-FF46-634FDC47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858BA-2773-387A-38B8-4B83D1914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511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30D1-432F-E46E-6BDB-4D57ED32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7D7F-74A0-C95D-95E7-FD979651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1AF11-C27E-5599-949F-76111AB52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ED14C-686A-2C74-9B99-62C6D586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CA79A-4A46-8896-936D-E013D769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07C17-F73F-526E-F7FC-ABF2054B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808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4AE4-16EB-8AE7-D24A-A81FC16F1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78327-07EA-C7D4-7FFA-23B25DFBA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79571-A3AE-CEA4-DBC2-3E449D3DD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B0704-8D6C-F160-856F-ABC4C78D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B8778-3CCD-4A9C-776F-ED02B50D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FD90B-7B6B-B392-E025-E444A0D6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65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3BD-AB6C-D594-20EF-2C5786D8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27999-2961-DA41-5E2C-59270C0A9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26330-CA0C-2C9D-DE92-0E80A59C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28DA4-6E26-5026-2354-292AFA85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1E67B-5906-FF41-F78D-C3E79A71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1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B488C-4752-E3D7-E568-50CDC16A6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DB936-5FEC-9107-2691-9DA038A28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7BE6B-0A42-8B92-27D5-17F2BDB6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C6D98-E02C-A20D-EBA8-9CEE6CF5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F49B8-6D23-4A3E-2C72-1C1D3CEE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08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A4378-A5A9-4A81-1AAB-6E55E958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7628A-4516-CD4E-9922-D6A7945D1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5E5F2-5B97-7A8F-55B4-A2B47BE13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81A9A-6039-475B-B9B7-F1E70683C04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25120-443F-6263-4E84-E22CFAC02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8819-D769-AA56-DD72-218697C50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2CDF9-BBE1-405F-85CC-F43E0CA94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29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BF957-6FC0-EF6F-4C3E-6C827C636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61692"/>
            <a:ext cx="8809704" cy="2387600"/>
          </a:xfrm>
        </p:spPr>
        <p:txBody>
          <a:bodyPr>
            <a:normAutofit/>
          </a:bodyPr>
          <a:lstStyle/>
          <a:p>
            <a:r>
              <a:rPr lang="en-US" dirty="0"/>
              <a:t>Problem Statement 114 – ARM is Great!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E6C9F-0513-FF42-96FA-0252BF945410}"/>
              </a:ext>
            </a:extLst>
          </p:cNvPr>
          <p:cNvSpPr txBox="1"/>
          <p:nvPr/>
        </p:nvSpPr>
        <p:spPr>
          <a:xfrm>
            <a:off x="3475703" y="4613160"/>
            <a:ext cx="52405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NAME: SHESHANK</a:t>
            </a:r>
          </a:p>
          <a:p>
            <a:r>
              <a:rPr lang="en-IN" sz="2800" dirty="0"/>
              <a:t>ROLL NO: CH.SC.U4CSE24125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4BAAF-4FB3-0ACD-CD09-765E8ABC7731}"/>
              </a:ext>
            </a:extLst>
          </p:cNvPr>
          <p:cNvSpPr txBox="1"/>
          <p:nvPr/>
        </p:nvSpPr>
        <p:spPr>
          <a:xfrm>
            <a:off x="3475703" y="838526"/>
            <a:ext cx="4262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DAA Capstone Project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08328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52A2-DA37-BD0F-6405-D0A5D1EF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26858" cy="765585"/>
          </a:xfrm>
        </p:spPr>
        <p:txBody>
          <a:bodyPr/>
          <a:lstStyle/>
          <a:p>
            <a:r>
              <a:rPr lang="en-IN" b="1" dirty="0"/>
              <a:t>Problem Statement: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B08AA-F608-6242-124A-A4E115A03CE7}"/>
              </a:ext>
            </a:extLst>
          </p:cNvPr>
          <p:cNvSpPr txBox="1"/>
          <p:nvPr/>
        </p:nvSpPr>
        <p:spPr>
          <a:xfrm>
            <a:off x="973394" y="1130710"/>
            <a:ext cx="88785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Setup: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are the </a:t>
            </a:r>
            <a:r>
              <a:rPr lang="en-US" b="1" dirty="0"/>
              <a:t>Lead Architect at ARM</a:t>
            </a:r>
            <a:r>
              <a:rPr lang="en-US" dirty="0"/>
              <a:t> designing the scheduling logic for the </a:t>
            </a:r>
            <a:r>
              <a:rPr lang="en-US" b="1" dirty="0"/>
              <a:t>Core Conqueror 9000 processor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contains </a:t>
            </a:r>
            <a:r>
              <a:rPr lang="en-US" b="1" dirty="0"/>
              <a:t>M identical cores</a:t>
            </a:r>
            <a:r>
              <a:rPr lang="en-US" dirty="0"/>
              <a:t> operating under a </a:t>
            </a:r>
            <a:r>
              <a:rPr lang="en-US" b="1" dirty="0"/>
              <a:t>Single Global Clock Tree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Key idea: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cores must run at the </a:t>
            </a:r>
            <a:r>
              <a:rPr lang="en-US" b="1" dirty="0"/>
              <a:t>same frequency f at any moment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must execute </a:t>
            </a:r>
            <a:r>
              <a:rPr lang="en-US" b="1" dirty="0"/>
              <a:t>N incoming tasks</a:t>
            </a:r>
            <a:r>
              <a:rPr lang="en-US" dirty="0"/>
              <a:t>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Each task requires a certain number of </a:t>
            </a:r>
            <a:r>
              <a:rPr lang="en-US" b="1" dirty="0"/>
              <a:t>Compute Units</a:t>
            </a:r>
            <a:r>
              <a:rPr lang="en-US" dirty="0"/>
              <a:t> to complete.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Your job is to determine: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tasks should be </a:t>
            </a:r>
            <a:r>
              <a:rPr lang="en-US" b="1" dirty="0"/>
              <a:t>assigned to cores.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</a:t>
            </a:r>
            <a:r>
              <a:rPr lang="en-US" b="1" dirty="0"/>
              <a:t>frequency</a:t>
            </a:r>
            <a:r>
              <a:rPr lang="en-US" dirty="0"/>
              <a:t> the processor should run.</a:t>
            </a:r>
          </a:p>
          <a:p>
            <a:r>
              <a:rPr lang="en-US" dirty="0"/>
              <a:t>so that the system is efficient.</a:t>
            </a:r>
          </a:p>
        </p:txBody>
      </p:sp>
    </p:spTree>
    <p:extLst>
      <p:ext uri="{BB962C8B-B14F-4D97-AF65-F5344CB8AC3E}">
        <p14:creationId xmlns:p14="http://schemas.microsoft.com/office/powerpoint/2010/main" val="175541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2885-C16D-F353-5705-A814B649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89206" cy="726256"/>
          </a:xfrm>
        </p:spPr>
        <p:txBody>
          <a:bodyPr/>
          <a:lstStyle/>
          <a:p>
            <a:r>
              <a:rPr lang="en-IN" b="1" dirty="0"/>
              <a:t>Constraints &amp; Goal: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1C0AA8-BB6C-6508-87EC-B228600C8856}"/>
                  </a:ext>
                </a:extLst>
              </p:cNvPr>
              <p:cNvSpPr txBox="1"/>
              <p:nvPr/>
            </p:nvSpPr>
            <p:spPr>
              <a:xfrm>
                <a:off x="1042219" y="1179871"/>
                <a:ext cx="7914968" cy="5096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Constraints:</a:t>
                </a:r>
              </a:p>
              <a:p>
                <a:r>
                  <a:rPr lang="en-IN" dirty="0"/>
                  <a:t>• All active cores must run at the </a:t>
                </a:r>
                <a:r>
                  <a:rPr lang="en-IN" b="1" dirty="0"/>
                  <a:t>same frequency f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• Power consumption depends on cores and frequency: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𝑃𝑜𝑤𝑒𝑟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where</a:t>
                </a:r>
                <a:br>
                  <a:rPr lang="en-IN" dirty="0"/>
                </a:br>
                <a:r>
                  <a:rPr lang="en-IN" dirty="0"/>
                  <a:t>k = number of active cores</a:t>
                </a:r>
              </a:p>
              <a:p>
                <a:r>
                  <a:rPr lang="en-IN" dirty="0"/>
                  <a:t>• Task execution speed: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𝐶𝑜𝑚𝑝𝑢𝑡𝑒</m:t>
                      </m:r>
                      <m:r>
                        <m:rPr>
                          <m:nor/>
                        </m:rPr>
                        <a:rPr lang="en-IN" i="1"/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• Tasks </a:t>
                </a:r>
                <a:r>
                  <a:rPr lang="en-IN" b="1" dirty="0"/>
                  <a:t>cannot be split across cores</a:t>
                </a:r>
                <a:r>
                  <a:rPr lang="en-IN" dirty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Goal:</a:t>
                </a:r>
              </a:p>
              <a:p>
                <a:r>
                  <a:rPr lang="en-IN" dirty="0"/>
                  <a:t>Develop a scheduling algorithm that:</a:t>
                </a:r>
              </a:p>
              <a:p>
                <a:r>
                  <a:rPr lang="en-IN" dirty="0"/>
                  <a:t>✔ Minimizes </a:t>
                </a:r>
                <a:r>
                  <a:rPr lang="en-IN" b="1" dirty="0"/>
                  <a:t>Total Execution Time</a:t>
                </a:r>
                <a:br>
                  <a:rPr lang="en-IN" dirty="0"/>
                </a:br>
                <a:r>
                  <a:rPr lang="en-IN" dirty="0"/>
                  <a:t>✔ Minimizes </a:t>
                </a:r>
                <a:r>
                  <a:rPr lang="en-IN" b="1" dirty="0"/>
                  <a:t>Total Energy Consumption</a:t>
                </a: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Input:</a:t>
                </a:r>
              </a:p>
              <a:p>
                <a:r>
                  <a:rPr lang="en-IN" dirty="0"/>
                  <a:t>M, L, H, </a:t>
                </a:r>
                <a:r>
                  <a:rPr lang="el-GR" dirty="0"/>
                  <a:t>α, β </a:t>
                </a:r>
                <a:r>
                  <a:rPr lang="en-IN" dirty="0"/>
                  <a:t>and list of N tasks.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Output:</a:t>
                </a:r>
              </a:p>
              <a:p>
                <a:r>
                  <a:rPr lang="en-IN" dirty="0"/>
                  <a:t>Optimal </a:t>
                </a:r>
                <a:r>
                  <a:rPr lang="en-IN" b="1" dirty="0"/>
                  <a:t>task schedule and frequency plan</a:t>
                </a:r>
                <a:r>
                  <a:rPr lang="en-IN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1C0AA8-BB6C-6508-87EC-B228600C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19" y="1179871"/>
                <a:ext cx="7914968" cy="5096908"/>
              </a:xfrm>
              <a:prstGeom prst="rect">
                <a:avLst/>
              </a:prstGeom>
              <a:blipFill>
                <a:blip r:embed="rId2"/>
                <a:stretch>
                  <a:fillRect l="-693" t="-718" b="-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716A8D9-28C5-3423-1961-BA61B8C17571}"/>
              </a:ext>
            </a:extLst>
          </p:cNvPr>
          <p:cNvSpPr txBox="1"/>
          <p:nvPr/>
        </p:nvSpPr>
        <p:spPr>
          <a:xfrm>
            <a:off x="5820697" y="479945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 = Number of processor cores</a:t>
            </a:r>
          </a:p>
          <a:p>
            <a:r>
              <a:rPr lang="en-IN" dirty="0"/>
              <a:t>L = Minimum processor frequency</a:t>
            </a:r>
          </a:p>
          <a:p>
            <a:r>
              <a:rPr lang="en-IN" dirty="0"/>
              <a:t>H = Maximum processor frequency</a:t>
            </a:r>
          </a:p>
          <a:p>
            <a:r>
              <a:rPr lang="en-IN" dirty="0"/>
              <a:t>α (alpha) = Constant that affects power consumption</a:t>
            </a:r>
          </a:p>
          <a:p>
            <a:r>
              <a:rPr lang="en-IN" dirty="0"/>
              <a:t>β (beta) = Constant that affects computation speed</a:t>
            </a:r>
          </a:p>
        </p:txBody>
      </p:sp>
    </p:spTree>
    <p:extLst>
      <p:ext uri="{BB962C8B-B14F-4D97-AF65-F5344CB8AC3E}">
        <p14:creationId xmlns:p14="http://schemas.microsoft.com/office/powerpoint/2010/main" val="9055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808F-397A-C45E-E039-67BF5341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71735" cy="834410"/>
          </a:xfrm>
        </p:spPr>
        <p:txBody>
          <a:bodyPr/>
          <a:lstStyle/>
          <a:p>
            <a:r>
              <a:rPr lang="en-IN" b="1" dirty="0"/>
              <a:t>Algorithmic Approach &amp; Design: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A41-7EB7-4BFE-9143-CA86DDD021BE}"/>
              </a:ext>
            </a:extLst>
          </p:cNvPr>
          <p:cNvSpPr txBox="1"/>
          <p:nvPr/>
        </p:nvSpPr>
        <p:spPr>
          <a:xfrm>
            <a:off x="914400" y="1366684"/>
            <a:ext cx="814111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 Used: Longest Processing Time (LPT Greedy)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Explanation: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sort tasks in </a:t>
            </a:r>
            <a:r>
              <a:rPr lang="en-US" b="1" dirty="0"/>
              <a:t>descending order of compute units</a:t>
            </a:r>
            <a:r>
              <a:rPr lang="en-US" dirty="0"/>
              <a:t> and assign each task to the </a:t>
            </a:r>
            <a:r>
              <a:rPr lang="en-US" b="1" dirty="0"/>
              <a:t>least loaded core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This balances workloads across cores and reduces total completion time.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 tasks by largest compute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the least loaded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 the task to that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core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 until all tasks are assigned</a:t>
            </a:r>
          </a:p>
        </p:txBody>
      </p:sp>
    </p:spTree>
    <p:extLst>
      <p:ext uri="{BB962C8B-B14F-4D97-AF65-F5344CB8AC3E}">
        <p14:creationId xmlns:p14="http://schemas.microsoft.com/office/powerpoint/2010/main" val="255344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D247-05A3-AF41-AD0C-E946D7AF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82961" cy="706591"/>
          </a:xfrm>
        </p:spPr>
        <p:txBody>
          <a:bodyPr>
            <a:normAutofit/>
          </a:bodyPr>
          <a:lstStyle/>
          <a:p>
            <a:r>
              <a:rPr lang="en-IN" sz="4000" b="1" dirty="0"/>
              <a:t>Worked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200F88-B329-3D32-E474-54DA7A75F39C}"/>
                  </a:ext>
                </a:extLst>
              </p:cNvPr>
              <p:cNvSpPr txBox="1"/>
              <p:nvPr/>
            </p:nvSpPr>
            <p:spPr>
              <a:xfrm>
                <a:off x="1052051" y="971730"/>
                <a:ext cx="18179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Number of cores: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200F88-B329-3D32-E474-54DA7A75F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051" y="971730"/>
                <a:ext cx="1817998" cy="646331"/>
              </a:xfrm>
              <a:prstGeom prst="rect">
                <a:avLst/>
              </a:prstGeom>
              <a:blipFill>
                <a:blip r:embed="rId2"/>
                <a:stretch>
                  <a:fillRect l="-3020" t="-4717" r="-2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6E3BFC0-7D7F-C83F-E775-939AA0D2B7F3}"/>
              </a:ext>
            </a:extLst>
          </p:cNvPr>
          <p:cNvSpPr txBox="1"/>
          <p:nvPr/>
        </p:nvSpPr>
        <p:spPr>
          <a:xfrm>
            <a:off x="1052051" y="1543430"/>
            <a:ext cx="733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Tasks: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393CB99-45B8-4292-934C-053567CA9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513059"/>
              </p:ext>
            </p:extLst>
          </p:nvPr>
        </p:nvGraphicFramePr>
        <p:xfrm>
          <a:off x="1418850" y="1988670"/>
          <a:ext cx="3998724" cy="2560320"/>
        </p:xfrm>
        <a:graphic>
          <a:graphicData uri="http://schemas.openxmlformats.org/drawingml/2006/table">
            <a:tbl>
              <a:tblPr/>
              <a:tblGrid>
                <a:gridCol w="1999362">
                  <a:extLst>
                    <a:ext uri="{9D8B030D-6E8A-4147-A177-3AD203B41FA5}">
                      <a16:colId xmlns:a16="http://schemas.microsoft.com/office/drawing/2014/main" val="2386812865"/>
                    </a:ext>
                  </a:extLst>
                </a:gridCol>
                <a:gridCol w="1999362">
                  <a:extLst>
                    <a:ext uri="{9D8B030D-6E8A-4147-A177-3AD203B41FA5}">
                      <a16:colId xmlns:a16="http://schemas.microsoft.com/office/drawing/2014/main" val="514330831"/>
                    </a:ext>
                  </a:extLst>
                </a:gridCol>
              </a:tblGrid>
              <a:tr h="32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 Units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113386"/>
                  </a:ext>
                </a:extLst>
              </a:tr>
              <a:tr h="32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012685"/>
                  </a:ext>
                </a:extLst>
              </a:tr>
              <a:tr h="32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454636"/>
                  </a:ext>
                </a:extLst>
              </a:tr>
              <a:tr h="32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08144"/>
                  </a:ext>
                </a:extLst>
              </a:tr>
              <a:tr h="32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166483"/>
                  </a:ext>
                </a:extLst>
              </a:tr>
              <a:tr h="32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435954"/>
                  </a:ext>
                </a:extLst>
              </a:tr>
              <a:tr h="326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136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EE789E-4243-F763-8E3F-1223DA029224}"/>
              </a:ext>
            </a:extLst>
          </p:cNvPr>
          <p:cNvSpPr txBox="1"/>
          <p:nvPr/>
        </p:nvSpPr>
        <p:spPr>
          <a:xfrm>
            <a:off x="1052051" y="5142778"/>
            <a:ext cx="4552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 — Sort Tasks (Longest First)</a:t>
            </a:r>
          </a:p>
          <a:p>
            <a:r>
              <a:rPr lang="en-US" dirty="0"/>
              <a:t>LPT requires sorting tasks in </a:t>
            </a:r>
            <a:r>
              <a:rPr lang="en-US" b="1" dirty="0"/>
              <a:t>descending order</a:t>
            </a:r>
            <a:r>
              <a:rPr lang="en-U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44B919-E31A-9199-AB5D-814E67727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95148"/>
              </p:ext>
            </p:extLst>
          </p:nvPr>
        </p:nvGraphicFramePr>
        <p:xfrm>
          <a:off x="6951406" y="3823330"/>
          <a:ext cx="3739944" cy="2834640"/>
        </p:xfrm>
        <a:graphic>
          <a:graphicData uri="http://schemas.openxmlformats.org/drawingml/2006/table">
            <a:tbl>
              <a:tblPr/>
              <a:tblGrid>
                <a:gridCol w="1246648">
                  <a:extLst>
                    <a:ext uri="{9D8B030D-6E8A-4147-A177-3AD203B41FA5}">
                      <a16:colId xmlns:a16="http://schemas.microsoft.com/office/drawing/2014/main" val="1642279238"/>
                    </a:ext>
                  </a:extLst>
                </a:gridCol>
                <a:gridCol w="1246648">
                  <a:extLst>
                    <a:ext uri="{9D8B030D-6E8A-4147-A177-3AD203B41FA5}">
                      <a16:colId xmlns:a16="http://schemas.microsoft.com/office/drawing/2014/main" val="1109054411"/>
                    </a:ext>
                  </a:extLst>
                </a:gridCol>
                <a:gridCol w="1246648">
                  <a:extLst>
                    <a:ext uri="{9D8B030D-6E8A-4147-A177-3AD203B41FA5}">
                      <a16:colId xmlns:a16="http://schemas.microsoft.com/office/drawing/2014/main" val="3887720847"/>
                    </a:ext>
                  </a:extLst>
                </a:gridCol>
              </a:tblGrid>
              <a:tr h="35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 Units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170919"/>
                  </a:ext>
                </a:extLst>
              </a:tr>
              <a:tr h="35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047695"/>
                  </a:ext>
                </a:extLst>
              </a:tr>
              <a:tr h="35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173220"/>
                  </a:ext>
                </a:extLst>
              </a:tr>
              <a:tr h="35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23380"/>
                  </a:ext>
                </a:extLst>
              </a:tr>
              <a:tr h="35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512723"/>
                  </a:ext>
                </a:extLst>
              </a:tr>
              <a:tr h="35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421063"/>
                  </a:ext>
                </a:extLst>
              </a:tr>
              <a:tr h="352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564207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B2AC08-C9BF-C10A-F5E1-2B7941FBE036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5604516" y="5240650"/>
            <a:ext cx="1346890" cy="225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7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541065-BF40-CE4D-B761-3EFD884F88BE}"/>
              </a:ext>
            </a:extLst>
          </p:cNvPr>
          <p:cNvSpPr txBox="1"/>
          <p:nvPr/>
        </p:nvSpPr>
        <p:spPr>
          <a:xfrm>
            <a:off x="0" y="0"/>
            <a:ext cx="2939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 — Initialize Core Loads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AA0B09-4D57-F2E1-26F1-59AA2B2AA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212798"/>
              </p:ext>
            </p:extLst>
          </p:nvPr>
        </p:nvGraphicFramePr>
        <p:xfrm>
          <a:off x="120445" y="369332"/>
          <a:ext cx="2140974" cy="1219200"/>
        </p:xfrm>
        <a:graphic>
          <a:graphicData uri="http://schemas.openxmlformats.org/drawingml/2006/table">
            <a:tbl>
              <a:tblPr/>
              <a:tblGrid>
                <a:gridCol w="1070487">
                  <a:extLst>
                    <a:ext uri="{9D8B030D-6E8A-4147-A177-3AD203B41FA5}">
                      <a16:colId xmlns:a16="http://schemas.microsoft.com/office/drawing/2014/main" val="2036550238"/>
                    </a:ext>
                  </a:extLst>
                </a:gridCol>
                <a:gridCol w="1070487">
                  <a:extLst>
                    <a:ext uri="{9D8B030D-6E8A-4147-A177-3AD203B41FA5}">
                      <a16:colId xmlns:a16="http://schemas.microsoft.com/office/drawing/2014/main" val="4020408887"/>
                    </a:ext>
                  </a:extLst>
                </a:gridCol>
              </a:tblGrid>
              <a:tr h="291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419731"/>
                  </a:ext>
                </a:extLst>
              </a:tr>
              <a:tr h="291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172880"/>
                  </a:ext>
                </a:extLst>
              </a:tr>
              <a:tr h="291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024365"/>
                  </a:ext>
                </a:extLst>
              </a:tr>
              <a:tr h="291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2287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83C2DE-4AE8-37EF-B898-292896248CDC}"/>
              </a:ext>
            </a:extLst>
          </p:cNvPr>
          <p:cNvSpPr txBox="1"/>
          <p:nvPr/>
        </p:nvSpPr>
        <p:spPr>
          <a:xfrm>
            <a:off x="0" y="1588532"/>
            <a:ext cx="3183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3 — Assign Tasks Using LPT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A09FB6-0F9F-2891-2724-A108BB006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499988"/>
              </p:ext>
            </p:extLst>
          </p:nvPr>
        </p:nvGraphicFramePr>
        <p:xfrm>
          <a:off x="120445" y="1957864"/>
          <a:ext cx="3468330" cy="1219200"/>
        </p:xfrm>
        <a:graphic>
          <a:graphicData uri="http://schemas.openxmlformats.org/drawingml/2006/table">
            <a:tbl>
              <a:tblPr/>
              <a:tblGrid>
                <a:gridCol w="1156110">
                  <a:extLst>
                    <a:ext uri="{9D8B030D-6E8A-4147-A177-3AD203B41FA5}">
                      <a16:colId xmlns:a16="http://schemas.microsoft.com/office/drawing/2014/main" val="3835280183"/>
                    </a:ext>
                  </a:extLst>
                </a:gridCol>
                <a:gridCol w="1156110">
                  <a:extLst>
                    <a:ext uri="{9D8B030D-6E8A-4147-A177-3AD203B41FA5}">
                      <a16:colId xmlns:a16="http://schemas.microsoft.com/office/drawing/2014/main" val="2714983309"/>
                    </a:ext>
                  </a:extLst>
                </a:gridCol>
                <a:gridCol w="1156110">
                  <a:extLst>
                    <a:ext uri="{9D8B030D-6E8A-4147-A177-3AD203B41FA5}">
                      <a16:colId xmlns:a16="http://schemas.microsoft.com/office/drawing/2014/main" val="2218652916"/>
                    </a:ext>
                  </a:extLst>
                </a:gridCol>
              </a:tblGrid>
              <a:tr h="278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158003"/>
                  </a:ext>
                </a:extLst>
              </a:tr>
              <a:tr h="278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T1, 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05546"/>
                  </a:ext>
                </a:extLst>
              </a:tr>
              <a:tr h="278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T3, 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565558"/>
                  </a:ext>
                </a:extLst>
              </a:tr>
              <a:tr h="278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T4, 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093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1FE3BE7-CDA5-46EB-29A1-DA549D6CD7B4}"/>
              </a:ext>
            </a:extLst>
          </p:cNvPr>
          <p:cNvSpPr txBox="1"/>
          <p:nvPr/>
        </p:nvSpPr>
        <p:spPr>
          <a:xfrm>
            <a:off x="0" y="3177064"/>
            <a:ext cx="2081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Final Task Allocation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3C70E8-79A7-86F3-4D5E-1A7B72A90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917426"/>
              </p:ext>
            </p:extLst>
          </p:nvPr>
        </p:nvGraphicFramePr>
        <p:xfrm>
          <a:off x="120445" y="3546396"/>
          <a:ext cx="3468330" cy="1219200"/>
        </p:xfrm>
        <a:graphic>
          <a:graphicData uri="http://schemas.openxmlformats.org/drawingml/2006/table">
            <a:tbl>
              <a:tblPr/>
              <a:tblGrid>
                <a:gridCol w="1734165">
                  <a:extLst>
                    <a:ext uri="{9D8B030D-6E8A-4147-A177-3AD203B41FA5}">
                      <a16:colId xmlns:a16="http://schemas.microsoft.com/office/drawing/2014/main" val="4215483331"/>
                    </a:ext>
                  </a:extLst>
                </a:gridCol>
                <a:gridCol w="1734165">
                  <a:extLst>
                    <a:ext uri="{9D8B030D-6E8A-4147-A177-3AD203B41FA5}">
                      <a16:colId xmlns:a16="http://schemas.microsoft.com/office/drawing/2014/main" val="1270140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530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T1 → 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T3 → 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1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T4 → 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83293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A0D413B-7C47-C302-EACB-D3E06AF04FF5}"/>
              </a:ext>
            </a:extLst>
          </p:cNvPr>
          <p:cNvSpPr txBox="1"/>
          <p:nvPr/>
        </p:nvSpPr>
        <p:spPr>
          <a:xfrm>
            <a:off x="0" y="4791422"/>
            <a:ext cx="2081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Execution Timeline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30F4CD-AA69-A52C-2AE0-0620C10FF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44687"/>
              </p:ext>
            </p:extLst>
          </p:nvPr>
        </p:nvGraphicFramePr>
        <p:xfrm>
          <a:off x="120445" y="5198902"/>
          <a:ext cx="5120148" cy="1524000"/>
        </p:xfrm>
        <a:graphic>
          <a:graphicData uri="http://schemas.openxmlformats.org/drawingml/2006/table">
            <a:tbl>
              <a:tblPr/>
              <a:tblGrid>
                <a:gridCol w="1280037">
                  <a:extLst>
                    <a:ext uri="{9D8B030D-6E8A-4147-A177-3AD203B41FA5}">
                      <a16:colId xmlns:a16="http://schemas.microsoft.com/office/drawing/2014/main" val="1901790796"/>
                    </a:ext>
                  </a:extLst>
                </a:gridCol>
                <a:gridCol w="1280037">
                  <a:extLst>
                    <a:ext uri="{9D8B030D-6E8A-4147-A177-3AD203B41FA5}">
                      <a16:colId xmlns:a16="http://schemas.microsoft.com/office/drawing/2014/main" val="1169781447"/>
                    </a:ext>
                  </a:extLst>
                </a:gridCol>
                <a:gridCol w="1280037">
                  <a:extLst>
                    <a:ext uri="{9D8B030D-6E8A-4147-A177-3AD203B41FA5}">
                      <a16:colId xmlns:a16="http://schemas.microsoft.com/office/drawing/2014/main" val="2926724544"/>
                    </a:ext>
                  </a:extLst>
                </a:gridCol>
                <a:gridCol w="1280037">
                  <a:extLst>
                    <a:ext uri="{9D8B030D-6E8A-4147-A177-3AD203B41FA5}">
                      <a16:colId xmlns:a16="http://schemas.microsoft.com/office/drawing/2014/main" val="2759327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98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0–450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58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450–500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1608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500–550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276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550–650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65364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6DF914D-DB6D-586F-FA49-70A029F832C5}"/>
              </a:ext>
            </a:extLst>
          </p:cNvPr>
          <p:cNvSpPr txBox="1"/>
          <p:nvPr/>
        </p:nvSpPr>
        <p:spPr>
          <a:xfrm>
            <a:off x="6865374" y="978932"/>
            <a:ext cx="612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Total Execution 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2A5D5-A903-3937-7E29-B636D3A9D04F}"/>
              </a:ext>
            </a:extLst>
          </p:cNvPr>
          <p:cNvSpPr txBox="1"/>
          <p:nvPr/>
        </p:nvSpPr>
        <p:spPr>
          <a:xfrm>
            <a:off x="6865374" y="1367135"/>
            <a:ext cx="2140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Finish times: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Core1 → 650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Core2 → 650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Core3 → 550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2F769-657B-7DFF-E3A8-A5D3B25C20E2}"/>
              </a:ext>
            </a:extLst>
          </p:cNvPr>
          <p:cNvSpPr txBox="1"/>
          <p:nvPr/>
        </p:nvSpPr>
        <p:spPr>
          <a:xfrm>
            <a:off x="7091517" y="2586335"/>
            <a:ext cx="651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 Execution Time=650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396713-D497-1D59-FC56-4B7D300AC673}"/>
                  </a:ext>
                </a:extLst>
              </p:cNvPr>
              <p:cNvSpPr txBox="1"/>
              <p:nvPr/>
            </p:nvSpPr>
            <p:spPr>
              <a:xfrm>
                <a:off x="5921478" y="3177064"/>
                <a:ext cx="6828502" cy="2551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Assume: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Since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IN" dirty="0"/>
                  <a:t> lies between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IN" dirty="0"/>
                  <a:t>, the selected frequency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5396713-D497-1D59-FC56-4B7D300AC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78" y="3177064"/>
                <a:ext cx="6828502" cy="2551724"/>
              </a:xfrm>
              <a:prstGeom prst="rect">
                <a:avLst/>
              </a:prstGeom>
              <a:blipFill>
                <a:blip r:embed="rId2"/>
                <a:stretch>
                  <a:fillRect l="-714" t="-1193" b="-11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39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9ED4-3C3E-2A49-AB97-BBCD905D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23503" cy="706591"/>
          </a:xfrm>
        </p:spPr>
        <p:txBody>
          <a:bodyPr>
            <a:normAutofit/>
          </a:bodyPr>
          <a:lstStyle/>
          <a:p>
            <a:r>
              <a:rPr lang="en-IN" sz="3600" b="1" dirty="0"/>
              <a:t>Asymptotic Analysis: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2B12DB-810B-A0E8-83FD-2E9947F43262}"/>
                  </a:ext>
                </a:extLst>
              </p:cNvPr>
              <p:cNvSpPr txBox="1"/>
              <p:nvPr/>
            </p:nvSpPr>
            <p:spPr>
              <a:xfrm>
                <a:off x="934066" y="1071716"/>
                <a:ext cx="6096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Let:</a:t>
                </a:r>
              </a:p>
              <a:p>
                <a:r>
                  <a:rPr lang="en-IN" sz="1600" dirty="0"/>
                  <a:t>N = number of tasks</a:t>
                </a:r>
                <a:br>
                  <a:rPr lang="en-IN" sz="1600" dirty="0"/>
                </a:br>
                <a:r>
                  <a:rPr lang="en-IN" sz="1600" dirty="0"/>
                  <a:t>M = number of cores</a:t>
                </a:r>
              </a:p>
              <a:p>
                <a:r>
                  <a:rPr lang="en-IN" sz="1600" b="1" dirty="0"/>
                  <a:t>Time Complexity:</a:t>
                </a:r>
              </a:p>
              <a:p>
                <a:r>
                  <a:rPr lang="en-IN" sz="1600" dirty="0"/>
                  <a:t>Sorting tasks: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func>
                            <m:func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Task assignment to cores: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func>
                            <m:func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Total complexity: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func>
                            <m:func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sz="1600" dirty="0"/>
              </a:p>
              <a:p>
                <a:r>
                  <a:rPr lang="en-IN" sz="1600" b="1" dirty="0"/>
                  <a:t>Space Complexity:</a:t>
                </a:r>
              </a:p>
              <a:p>
                <a:r>
                  <a:rPr lang="en-IN" sz="1600" dirty="0"/>
                  <a:t>Only storing: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Task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Core Loads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𝑆𝑝𝑎𝑐𝑒</m:t>
                      </m:r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ar-AE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2B12DB-810B-A0E8-83FD-2E9947F43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66" y="1071716"/>
                <a:ext cx="6096000" cy="3785652"/>
              </a:xfrm>
              <a:prstGeom prst="rect">
                <a:avLst/>
              </a:prstGeom>
              <a:blipFill>
                <a:blip r:embed="rId2"/>
                <a:stretch>
                  <a:fillRect l="-500" t="-4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50D4F5B-0498-6AC5-0817-58B3EB334779}"/>
              </a:ext>
            </a:extLst>
          </p:cNvPr>
          <p:cNvSpPr txBox="1"/>
          <p:nvPr/>
        </p:nvSpPr>
        <p:spPr>
          <a:xfrm>
            <a:off x="934066" y="4902239"/>
            <a:ext cx="66662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Conclusion</a:t>
            </a:r>
            <a:endParaRPr lang="en-US" sz="1600" b="1" dirty="0"/>
          </a:p>
          <a:p>
            <a:endParaRPr lang="en-US" sz="1600" dirty="0"/>
          </a:p>
          <a:p>
            <a:pPr>
              <a:buNone/>
            </a:pPr>
            <a:r>
              <a:rPr lang="en-US" sz="1600" dirty="0"/>
              <a:t>• Efficiently schedules </a:t>
            </a:r>
            <a:r>
              <a:rPr lang="en-US" sz="1600" b="1" dirty="0"/>
              <a:t>N tasks across M cores</a:t>
            </a:r>
            <a:r>
              <a:rPr lang="en-US" sz="1600" dirty="0"/>
              <a:t> using the LPT greedy algorithm.</a:t>
            </a:r>
            <a:br>
              <a:rPr lang="en-US" sz="1600" dirty="0"/>
            </a:br>
            <a:r>
              <a:rPr lang="en-US" sz="1600" dirty="0"/>
              <a:t>• Ensures </a:t>
            </a:r>
            <a:r>
              <a:rPr lang="en-US" sz="1600" b="1" dirty="0"/>
              <a:t>balanced workload distribution</a:t>
            </a:r>
            <a:r>
              <a:rPr lang="en-US" sz="1600" dirty="0"/>
              <a:t> and reduced total execution time.</a:t>
            </a:r>
            <a:br>
              <a:rPr lang="en-US" sz="1600" dirty="0"/>
            </a:br>
            <a:r>
              <a:rPr lang="en-US" sz="1600" dirty="0"/>
              <a:t>• Selects an appropriate processor frequency to </a:t>
            </a:r>
            <a:r>
              <a:rPr lang="en-US" sz="1600" b="1" dirty="0"/>
              <a:t>minimize energy consumption while maintaining performance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041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E71D8-A7A6-207C-855C-C4B56CF09E5F}"/>
              </a:ext>
            </a:extLst>
          </p:cNvPr>
          <p:cNvSpPr txBox="1"/>
          <p:nvPr/>
        </p:nvSpPr>
        <p:spPr>
          <a:xfrm>
            <a:off x="2039441" y="2321004"/>
            <a:ext cx="811311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800" dirty="0">
                <a:latin typeface="Californian FB" panose="0207040306080B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3670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644</Words>
  <Application>Microsoft Office PowerPoint</Application>
  <PresentationFormat>Widescreen</PresentationFormat>
  <Paragraphs>184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Californian FB</vt:lpstr>
      <vt:lpstr>Cambria Math</vt:lpstr>
      <vt:lpstr>Wingdings</vt:lpstr>
      <vt:lpstr>Office Theme</vt:lpstr>
      <vt:lpstr>Problem Statement 114 – ARM is Great!</vt:lpstr>
      <vt:lpstr>Problem Statement:</vt:lpstr>
      <vt:lpstr>Constraints &amp; Goal:</vt:lpstr>
      <vt:lpstr>Algorithmic Approach &amp; Design:</vt:lpstr>
      <vt:lpstr>Worked Example:</vt:lpstr>
      <vt:lpstr>PowerPoint Presentation</vt:lpstr>
      <vt:lpstr>Asymptotic Analysis: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prodduturujashwanth@gmail.com</dc:creator>
  <cp:lastModifiedBy>Sheshank M</cp:lastModifiedBy>
  <cp:revision>12</cp:revision>
  <dcterms:created xsi:type="dcterms:W3CDTF">2026-03-11T14:43:35Z</dcterms:created>
  <dcterms:modified xsi:type="dcterms:W3CDTF">2026-03-14T05:56:35Z</dcterms:modified>
</cp:coreProperties>
</file>